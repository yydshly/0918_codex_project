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CE9FA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2207121"/>
            <a:ext cx="164820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75" kern="0" dirty="0">
                <a:solidFill>
                  <a:srgbClr val="7165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SHIYE / A QUIETER PLACE TO READ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2873871"/>
            <a:ext cx="13244513" cy="2613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800" b="1" spc="-225" kern="0" dirty="0">
                <a:solidFill>
                  <a:srgbClr val="242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把值得留下的想法，</a:t>
            </a:r>
            <a:endParaRPr lang="en-US" sz="7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7800" b="1" spc="-225" kern="0" dirty="0">
                <a:solidFill>
                  <a:srgbClr val="242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放进一个</a:t>
            </a:r>
            <a:pPr algn="l" indent="0" marL="0">
              <a:lnSpc>
                <a:spcPct val="130000"/>
              </a:lnSpc>
              <a:buNone/>
            </a:pPr>
            <a:r>
              <a:rPr lang="en-US" sz="7800" b="1" spc="-225" kern="0" dirty="0">
                <a:solidFill>
                  <a:srgbClr val="514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安静的空间。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143000" y="5906393"/>
            <a:ext cx="11282363" cy="1135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2400" dirty="0">
                <a:solidFill>
                  <a:srgbClr val="7C7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一个阅读产品需求，三种界面方向。</a:t>
            </a:r>
            <a:endParaRPr lang="en-US" sz="2400" dirty="0"/>
          </a:p>
          <a:p>
            <a:pPr algn="l" indent="0" marL="0">
              <a:lnSpc>
                <a:spcPct val="180000"/>
              </a:lnSpc>
              <a:buNone/>
            </a:pPr>
            <a:r>
              <a:rPr lang="en-US" sz="2400" dirty="0">
                <a:solidFill>
                  <a:srgbClr val="7C7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 baoyu-design 工作流完成从视觉到交互的能力实验。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7517904"/>
            <a:ext cx="3079700" cy="561975"/>
          </a:xfrm>
          <a:prstGeom prst="roundRect">
            <a:avLst>
              <a:gd name="adj" fmla="val 50000"/>
            </a:avLst>
          </a:prstGeom>
          <a:ln w="9525">
            <a:solidFill>
              <a:srgbClr val="BCB4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38275" y="7651254"/>
            <a:ext cx="258154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16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原创演示 · 本地样本数据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9534525"/>
            <a:ext cx="393901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50" kern="0" dirty="0">
                <a:solidFill>
                  <a:srgbClr val="9A9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BAOYU-DESIGN / CAPABILITY LAB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16399818" y="9534525"/>
            <a:ext cx="82138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50" kern="0" dirty="0">
                <a:solidFill>
                  <a:srgbClr val="9A9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04</a:t>
            </a:r>
            <a:endParaRPr lang="en-US" sz="15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6F5F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1638746"/>
            <a:ext cx="164820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75" kern="0" dirty="0">
                <a:solidFill>
                  <a:srgbClr val="817D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EXPLORE BEFORE YOU DECIDE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2305496"/>
            <a:ext cx="16482060" cy="1015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5700" b="1" spc="-150" kern="0" dirty="0">
                <a:solidFill>
                  <a:srgbClr val="242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内容相同，阅读节奏不同。</a:t>
            </a:r>
            <a:endParaRPr lang="en-US" sz="5700" dirty="0"/>
          </a:p>
        </p:txBody>
      </p:sp>
      <p:sp>
        <p:nvSpPr>
          <p:cNvPr id="5" name="Shape 3"/>
          <p:cNvSpPr/>
          <p:nvPr/>
        </p:nvSpPr>
        <p:spPr>
          <a:xfrm>
            <a:off x="1143000" y="3901827"/>
            <a:ext cx="5111651" cy="4746278"/>
          </a:xfrm>
          <a:prstGeom prst="roundRect">
            <a:avLst>
              <a:gd name="adj" fmla="val 3612"/>
            </a:avLst>
          </a:prstGeom>
          <a:solidFill>
            <a:srgbClr val="FFFFFF"/>
          </a:solidFill>
          <a:ln w="9525">
            <a:solidFill>
              <a:srgbClr val="E4E0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33525" y="4292352"/>
            <a:ext cx="4460519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dirty="0">
                <a:solidFill>
                  <a:srgbClr val="B5AA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5100" dirty="0"/>
          </a:p>
        </p:txBody>
      </p:sp>
      <p:sp>
        <p:nvSpPr>
          <p:cNvPr id="7" name="Text 5"/>
          <p:cNvSpPr/>
          <p:nvPr/>
        </p:nvSpPr>
        <p:spPr>
          <a:xfrm>
            <a:off x="1533525" y="5254377"/>
            <a:ext cx="4460519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625" b="1" dirty="0">
                <a:solidFill>
                  <a:srgbClr val="242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杂志卡片</a:t>
            </a:r>
            <a:endParaRPr lang="en-US" sz="2625" dirty="0"/>
          </a:p>
        </p:txBody>
      </p:sp>
      <p:sp>
        <p:nvSpPr>
          <p:cNvPr id="8" name="Text 6"/>
          <p:cNvSpPr/>
          <p:nvPr/>
        </p:nvSpPr>
        <p:spPr>
          <a:xfrm>
            <a:off x="1533525" y="5906839"/>
            <a:ext cx="4460519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950" dirty="0">
                <a:solidFill>
                  <a:srgbClr val="7C7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封面引导发现，适合浏览灵感。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533525" y="6638330"/>
            <a:ext cx="4330601" cy="1619250"/>
          </a:xfrm>
          <a:prstGeom prst="roundRect">
            <a:avLst>
              <a:gd name="adj" fmla="val 5882"/>
            </a:avLst>
          </a:prstGeom>
          <a:solidFill>
            <a:srgbClr val="F0EDF8"/>
          </a:solidFill>
          <a:ln/>
        </p:spPr>
      </p:sp>
      <p:sp>
        <p:nvSpPr>
          <p:cNvPr id="10" name="Shape 8"/>
          <p:cNvSpPr/>
          <p:nvPr/>
        </p:nvSpPr>
        <p:spPr>
          <a:xfrm>
            <a:off x="1724025" y="6828830"/>
            <a:ext cx="1903363" cy="1238250"/>
          </a:xfrm>
          <a:prstGeom prst="roundRect">
            <a:avLst>
              <a:gd name="adj" fmla="val 3846"/>
            </a:avLst>
          </a:prstGeom>
          <a:solidFill>
            <a:srgbClr val="D4CBE9"/>
          </a:solidFill>
          <a:ln/>
        </p:spPr>
      </p:sp>
      <p:sp>
        <p:nvSpPr>
          <p:cNvPr id="11" name="Shape 9"/>
          <p:cNvSpPr/>
          <p:nvPr/>
        </p:nvSpPr>
        <p:spPr>
          <a:xfrm>
            <a:off x="3770263" y="6828830"/>
            <a:ext cx="1903363" cy="1238250"/>
          </a:xfrm>
          <a:prstGeom prst="roundRect">
            <a:avLst>
              <a:gd name="adj" fmla="val 3846"/>
            </a:avLst>
          </a:prstGeom>
          <a:solidFill>
            <a:srgbClr val="D4CBE9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8026" y="3901827"/>
            <a:ext cx="5111800" cy="4746278"/>
          </a:xfrm>
          <a:prstGeom prst="roundRect">
            <a:avLst>
              <a:gd name="adj" fmla="val 3612"/>
            </a:avLst>
          </a:prstGeom>
          <a:solidFill>
            <a:srgbClr val="FFFFFF"/>
          </a:solidFill>
          <a:ln w="9525">
            <a:solidFill>
              <a:srgbClr val="E4E0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78551" y="4292352"/>
            <a:ext cx="4460672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dirty="0">
                <a:solidFill>
                  <a:srgbClr val="B5AA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5100" dirty="0"/>
          </a:p>
        </p:txBody>
      </p:sp>
      <p:sp>
        <p:nvSpPr>
          <p:cNvPr id="14" name="Text 12"/>
          <p:cNvSpPr/>
          <p:nvPr/>
        </p:nvSpPr>
        <p:spPr>
          <a:xfrm>
            <a:off x="6978551" y="5254377"/>
            <a:ext cx="4460672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625" b="1" dirty="0">
                <a:solidFill>
                  <a:srgbClr val="242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专注列表</a:t>
            </a:r>
            <a:endParaRPr lang="en-US" sz="2625" dirty="0"/>
          </a:p>
        </p:txBody>
      </p:sp>
      <p:sp>
        <p:nvSpPr>
          <p:cNvPr id="15" name="Text 13"/>
          <p:cNvSpPr/>
          <p:nvPr/>
        </p:nvSpPr>
        <p:spPr>
          <a:xfrm>
            <a:off x="6978551" y="5906839"/>
            <a:ext cx="4460672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950" dirty="0">
                <a:solidFill>
                  <a:srgbClr val="7C7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提高信息密度，快速找到文章。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6978551" y="6638330"/>
            <a:ext cx="4330750" cy="1619250"/>
          </a:xfrm>
          <a:prstGeom prst="roundRect">
            <a:avLst>
              <a:gd name="adj" fmla="val 5882"/>
            </a:avLst>
          </a:prstGeom>
          <a:solidFill>
            <a:srgbClr val="F0EDF8"/>
          </a:solidFill>
          <a:ln/>
        </p:spPr>
      </p:sp>
      <p:sp>
        <p:nvSpPr>
          <p:cNvPr id="17" name="Shape 15"/>
          <p:cNvSpPr/>
          <p:nvPr/>
        </p:nvSpPr>
        <p:spPr>
          <a:xfrm>
            <a:off x="7169051" y="6828830"/>
            <a:ext cx="3949750" cy="317450"/>
          </a:xfrm>
          <a:prstGeom prst="roundRect">
            <a:avLst>
              <a:gd name="adj" fmla="val 15002"/>
            </a:avLst>
          </a:prstGeom>
          <a:solidFill>
            <a:srgbClr val="D4CBE9"/>
          </a:solidFill>
          <a:ln/>
        </p:spPr>
      </p:sp>
      <p:sp>
        <p:nvSpPr>
          <p:cNvPr id="18" name="Shape 16"/>
          <p:cNvSpPr/>
          <p:nvPr/>
        </p:nvSpPr>
        <p:spPr>
          <a:xfrm>
            <a:off x="7169051" y="7289155"/>
            <a:ext cx="3949750" cy="317599"/>
          </a:xfrm>
          <a:prstGeom prst="roundRect">
            <a:avLst>
              <a:gd name="adj" fmla="val 14995"/>
            </a:avLst>
          </a:prstGeom>
          <a:solidFill>
            <a:srgbClr val="D4CBE9"/>
          </a:solidFill>
          <a:ln/>
        </p:spPr>
      </p:sp>
      <p:sp>
        <p:nvSpPr>
          <p:cNvPr id="19" name="Shape 17"/>
          <p:cNvSpPr/>
          <p:nvPr/>
        </p:nvSpPr>
        <p:spPr>
          <a:xfrm>
            <a:off x="7169051" y="7749629"/>
            <a:ext cx="3949750" cy="317450"/>
          </a:xfrm>
          <a:prstGeom prst="roundRect">
            <a:avLst>
              <a:gd name="adj" fmla="val 15002"/>
            </a:avLst>
          </a:prstGeom>
          <a:solidFill>
            <a:srgbClr val="D4CBE9"/>
          </a:solidFill>
          <a:ln/>
        </p:spPr>
      </p:sp>
      <p:sp>
        <p:nvSpPr>
          <p:cNvPr id="20" name="Shape 18"/>
          <p:cNvSpPr/>
          <p:nvPr/>
        </p:nvSpPr>
        <p:spPr>
          <a:xfrm>
            <a:off x="12033200" y="3901827"/>
            <a:ext cx="5111800" cy="4746278"/>
          </a:xfrm>
          <a:prstGeom prst="roundRect">
            <a:avLst>
              <a:gd name="adj" fmla="val 3612"/>
            </a:avLst>
          </a:prstGeom>
          <a:solidFill>
            <a:srgbClr val="FFFFFF"/>
          </a:solidFill>
          <a:ln w="9525">
            <a:solidFill>
              <a:srgbClr val="E4E0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423725" y="4292352"/>
            <a:ext cx="4460672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dirty="0">
                <a:solidFill>
                  <a:srgbClr val="B5AA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5100" dirty="0"/>
          </a:p>
        </p:txBody>
      </p:sp>
      <p:sp>
        <p:nvSpPr>
          <p:cNvPr id="22" name="Text 20"/>
          <p:cNvSpPr/>
          <p:nvPr/>
        </p:nvSpPr>
        <p:spPr>
          <a:xfrm>
            <a:off x="12423725" y="5254377"/>
            <a:ext cx="4460672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625" b="1" dirty="0">
                <a:solidFill>
                  <a:srgbClr val="242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结构线框</a:t>
            </a:r>
            <a:endParaRPr lang="en-US" sz="2625" dirty="0"/>
          </a:p>
        </p:txBody>
      </p:sp>
      <p:sp>
        <p:nvSpPr>
          <p:cNvPr id="23" name="Text 21"/>
          <p:cNvSpPr/>
          <p:nvPr/>
        </p:nvSpPr>
        <p:spPr>
          <a:xfrm>
            <a:off x="12423725" y="5906839"/>
            <a:ext cx="4460672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950" dirty="0">
                <a:solidFill>
                  <a:srgbClr val="7C7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弱化装饰，先讨论信息与流程。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2423725" y="6638330"/>
            <a:ext cx="4330750" cy="16192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BAB7C7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12633275" y="6847880"/>
            <a:ext cx="1884313" cy="1200150"/>
          </a:xfrm>
          <a:prstGeom prst="roundRect">
            <a:avLst>
              <a:gd name="adj" fmla="val 3968"/>
            </a:avLst>
          </a:prstGeom>
          <a:solidFill>
            <a:srgbClr val="F6F5F9"/>
          </a:solidFill>
          <a:ln w="19050">
            <a:solidFill>
              <a:srgbClr val="CBC8D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14660463" y="6847880"/>
            <a:ext cx="1884462" cy="1200150"/>
          </a:xfrm>
          <a:prstGeom prst="roundRect">
            <a:avLst>
              <a:gd name="adj" fmla="val 3968"/>
            </a:avLst>
          </a:prstGeom>
          <a:solidFill>
            <a:srgbClr val="F6F5F9"/>
          </a:solidFill>
          <a:ln w="19050">
            <a:solidFill>
              <a:srgbClr val="CBC8D2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143000" y="9534525"/>
            <a:ext cx="385393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50" kern="0" dirty="0">
                <a:solidFill>
                  <a:srgbClr val="9A9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BRIEF / THREE DIRECTIONS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16399818" y="9534525"/>
            <a:ext cx="82138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50" kern="0" dirty="0">
                <a:solidFill>
                  <a:srgbClr val="9A9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04</a:t>
            </a:r>
            <a:endParaRPr lang="en-US" sz="15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82239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2055614"/>
            <a:ext cx="164820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75" kern="0" dirty="0">
                <a:solidFill>
                  <a:srgbClr val="AFA2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RULES TO REUSABLE ARTIFACTS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2722364"/>
            <a:ext cx="16482060" cy="1015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5700" b="1" spc="-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设计规范，需要真正进入代码。</a:t>
            </a:r>
            <a:endParaRPr lang="en-US" sz="5700" dirty="0"/>
          </a:p>
        </p:txBody>
      </p:sp>
      <p:sp>
        <p:nvSpPr>
          <p:cNvPr id="5" name="anim-s3-n0-k0"/>
          <p:cNvSpPr/>
          <p:nvPr/>
        </p:nvSpPr>
        <p:spPr>
          <a:xfrm>
            <a:off x="1143000" y="4318695"/>
            <a:ext cx="5111651" cy="3912691"/>
          </a:xfrm>
          <a:prstGeom prst="roundRect">
            <a:avLst>
              <a:gd name="adj" fmla="val 3895"/>
            </a:avLst>
          </a:prstGeom>
          <a:solidFill>
            <a:srgbClr val="393149"/>
          </a:solidFill>
          <a:ln w="9525">
            <a:solidFill>
              <a:srgbClr val="554761"/>
            </a:solidFill>
            <a:prstDash val="solid"/>
          </a:ln>
        </p:spPr>
      </p:sp>
      <p:sp>
        <p:nvSpPr>
          <p:cNvPr id="6" name="anim-s3-n0-k1"/>
          <p:cNvSpPr/>
          <p:nvPr/>
        </p:nvSpPr>
        <p:spPr>
          <a:xfrm>
            <a:off x="1533525" y="4709220"/>
            <a:ext cx="4460519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75" dirty="0">
                <a:solidFill>
                  <a:srgbClr val="AA9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875" dirty="0"/>
          </a:p>
        </p:txBody>
      </p:sp>
      <p:sp>
        <p:nvSpPr>
          <p:cNvPr id="7" name="anim-s3-n0-k2"/>
          <p:cNvSpPr/>
          <p:nvPr/>
        </p:nvSpPr>
        <p:spPr>
          <a:xfrm>
            <a:off x="1533525" y="5718870"/>
            <a:ext cx="4460519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定义与编译</a:t>
            </a:r>
            <a:endParaRPr lang="en-US" sz="2850" dirty="0"/>
          </a:p>
        </p:txBody>
      </p:sp>
      <p:sp>
        <p:nvSpPr>
          <p:cNvPr id="8" name="anim-s3-n0-k3"/>
          <p:cNvSpPr/>
          <p:nvPr/>
        </p:nvSpPr>
        <p:spPr>
          <a:xfrm>
            <a:off x="1533525" y="6452295"/>
            <a:ext cx="4460519" cy="1426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2025" dirty="0">
                <a:solidFill>
                  <a:srgbClr val="B3A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个设计变量</a:t>
            </a:r>
            <a:endParaRPr lang="en-US" sz="2025" dirty="0"/>
          </a:p>
          <a:p>
            <a:pPr algn="l" indent="0" marL="0">
              <a:lnSpc>
                <a:spcPct val="180000"/>
              </a:lnSpc>
              <a:buNone/>
            </a:pPr>
            <a:r>
              <a:rPr lang="en-US" sz="2025" dirty="0">
                <a:solidFill>
                  <a:srgbClr val="B3A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个可复用组件</a:t>
            </a:r>
            <a:endParaRPr lang="en-US" sz="2025" dirty="0"/>
          </a:p>
          <a:p>
            <a:pPr algn="l" indent="0" marL="0">
              <a:lnSpc>
                <a:spcPct val="180000"/>
              </a:lnSpc>
              <a:buNone/>
            </a:pPr>
            <a:r>
              <a:rPr lang="en-US" sz="2025" dirty="0">
                <a:solidFill>
                  <a:srgbClr val="B3A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上游原版编译器生成组件包</a:t>
            </a:r>
            <a:endParaRPr lang="en-US" sz="2025" dirty="0"/>
          </a:p>
        </p:txBody>
      </p:sp>
      <p:sp>
        <p:nvSpPr>
          <p:cNvPr id="9" name="anim-s3-n1-k0"/>
          <p:cNvSpPr/>
          <p:nvPr/>
        </p:nvSpPr>
        <p:spPr>
          <a:xfrm>
            <a:off x="6588026" y="4318695"/>
            <a:ext cx="5111800" cy="3912691"/>
          </a:xfrm>
          <a:prstGeom prst="roundRect">
            <a:avLst>
              <a:gd name="adj" fmla="val 3895"/>
            </a:avLst>
          </a:prstGeom>
          <a:solidFill>
            <a:srgbClr val="393149"/>
          </a:solidFill>
          <a:ln w="9525">
            <a:solidFill>
              <a:srgbClr val="554761"/>
            </a:solidFill>
            <a:prstDash val="solid"/>
          </a:ln>
        </p:spPr>
      </p:sp>
      <p:sp>
        <p:nvSpPr>
          <p:cNvPr id="10" name="anim-s3-n1-k1"/>
          <p:cNvSpPr/>
          <p:nvPr/>
        </p:nvSpPr>
        <p:spPr>
          <a:xfrm>
            <a:off x="6978551" y="4709220"/>
            <a:ext cx="4460672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75" dirty="0">
                <a:solidFill>
                  <a:srgbClr val="AA9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875" dirty="0"/>
          </a:p>
        </p:txBody>
      </p:sp>
      <p:sp>
        <p:nvSpPr>
          <p:cNvPr id="11" name="anim-s3-n1-k2"/>
          <p:cNvSpPr/>
          <p:nvPr/>
        </p:nvSpPr>
        <p:spPr>
          <a:xfrm>
            <a:off x="6978551" y="5718870"/>
            <a:ext cx="4460672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绑定与复用</a:t>
            </a:r>
            <a:endParaRPr lang="en-US" sz="2850" dirty="0"/>
          </a:p>
        </p:txBody>
      </p:sp>
      <p:sp>
        <p:nvSpPr>
          <p:cNvPr id="12" name="anim-s3-n1-k3"/>
          <p:cNvSpPr/>
          <p:nvPr/>
        </p:nvSpPr>
        <p:spPr>
          <a:xfrm>
            <a:off x="6978551" y="6452295"/>
            <a:ext cx="4460672" cy="1426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2025" dirty="0">
                <a:solidFill>
                  <a:srgbClr val="B3A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导入项目的独立副本</a:t>
            </a:r>
            <a:endParaRPr lang="en-US" sz="2025" dirty="0"/>
          </a:p>
          <a:p>
            <a:pPr algn="l" indent="0" marL="0">
              <a:lnSpc>
                <a:spcPct val="180000"/>
              </a:lnSpc>
              <a:buNone/>
            </a:pPr>
            <a:r>
              <a:rPr lang="en-US" sz="2025" dirty="0">
                <a:solidFill>
                  <a:srgbClr val="B3A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页面加载同一组件包</a:t>
            </a:r>
            <a:endParaRPr lang="en-US" sz="2025" dirty="0"/>
          </a:p>
          <a:p>
            <a:pPr algn="l" indent="0" marL="0">
              <a:lnSpc>
                <a:spcPct val="180000"/>
              </a:lnSpc>
              <a:buNone/>
            </a:pPr>
            <a:r>
              <a:rPr lang="en-US" sz="2025" dirty="0">
                <a:solidFill>
                  <a:srgbClr val="B3A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品牌色和组件状态保持一致</a:t>
            </a:r>
            <a:endParaRPr lang="en-US" sz="2025" dirty="0"/>
          </a:p>
        </p:txBody>
      </p:sp>
      <p:sp>
        <p:nvSpPr>
          <p:cNvPr id="13" name="anim-s3-n2-k0"/>
          <p:cNvSpPr/>
          <p:nvPr/>
        </p:nvSpPr>
        <p:spPr>
          <a:xfrm>
            <a:off x="12033200" y="4318695"/>
            <a:ext cx="5111800" cy="3912691"/>
          </a:xfrm>
          <a:prstGeom prst="roundRect">
            <a:avLst>
              <a:gd name="adj" fmla="val 3895"/>
            </a:avLst>
          </a:prstGeom>
          <a:solidFill>
            <a:srgbClr val="393149"/>
          </a:solidFill>
          <a:ln w="9525">
            <a:solidFill>
              <a:srgbClr val="554761"/>
            </a:solidFill>
            <a:prstDash val="solid"/>
          </a:ln>
        </p:spPr>
      </p:sp>
      <p:sp>
        <p:nvSpPr>
          <p:cNvPr id="14" name="anim-s3-n2-k1"/>
          <p:cNvSpPr/>
          <p:nvPr/>
        </p:nvSpPr>
        <p:spPr>
          <a:xfrm>
            <a:off x="12423725" y="4709220"/>
            <a:ext cx="4460672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75" dirty="0">
                <a:solidFill>
                  <a:srgbClr val="AA9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875" dirty="0"/>
          </a:p>
        </p:txBody>
      </p:sp>
      <p:sp>
        <p:nvSpPr>
          <p:cNvPr id="15" name="anim-s3-n2-k2"/>
          <p:cNvSpPr/>
          <p:nvPr/>
        </p:nvSpPr>
        <p:spPr>
          <a:xfrm>
            <a:off x="12423725" y="5718870"/>
            <a:ext cx="4460672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预览与交付</a:t>
            </a:r>
            <a:endParaRPr lang="en-US" sz="2850" dirty="0"/>
          </a:p>
        </p:txBody>
      </p:sp>
      <p:sp>
        <p:nvSpPr>
          <p:cNvPr id="16" name="anim-s3-n2-k3"/>
          <p:cNvSpPr/>
          <p:nvPr/>
        </p:nvSpPr>
        <p:spPr>
          <a:xfrm>
            <a:off x="12423725" y="6452295"/>
            <a:ext cx="4460672" cy="1426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2025" dirty="0">
                <a:solidFill>
                  <a:srgbClr val="B3A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浏览器中检查布局和交互</a:t>
            </a:r>
            <a:endParaRPr lang="en-US" sz="2025" dirty="0"/>
          </a:p>
          <a:p>
            <a:pPr algn="l" indent="0" marL="0">
              <a:lnSpc>
                <a:spcPct val="180000"/>
              </a:lnSpc>
              <a:buNone/>
            </a:pPr>
            <a:r>
              <a:rPr lang="en-US" sz="2025" dirty="0">
                <a:solidFill>
                  <a:srgbClr val="B3A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生成单文件组件预览</a:t>
            </a:r>
            <a:endParaRPr lang="en-US" sz="2025" dirty="0"/>
          </a:p>
          <a:p>
            <a:pPr algn="l" indent="0" marL="0">
              <a:lnSpc>
                <a:spcPct val="180000"/>
              </a:lnSpc>
              <a:buNone/>
            </a:pPr>
            <a:r>
              <a:rPr lang="en-US" sz="2025" dirty="0">
                <a:solidFill>
                  <a:srgbClr val="B3A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把网页幻灯片导出为 PPTX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1143000" y="9505950"/>
            <a:ext cx="241622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50" kern="0" dirty="0">
                <a:solidFill>
                  <a:srgbClr val="9A9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 → 依次展开三个步骤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16399818" y="9505950"/>
            <a:ext cx="82138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50" kern="0" dirty="0">
                <a:solidFill>
                  <a:srgbClr val="9A9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04</a:t>
            </a:r>
            <a:endParaRPr lang="en-US" sz="157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6F5F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2449860"/>
            <a:ext cx="164820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75" kern="0" dirty="0">
                <a:solidFill>
                  <a:srgbClr val="817D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EXPERIMENT SHOWS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116610"/>
            <a:ext cx="7750492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750" dirty="0">
                <a:solidFill>
                  <a:srgbClr val="5144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→ 3</a:t>
            </a:r>
            <a:endParaRPr lang="en-US" sz="12750" dirty="0"/>
          </a:p>
        </p:txBody>
      </p:sp>
      <p:sp>
        <p:nvSpPr>
          <p:cNvPr id="5" name="Text 3"/>
          <p:cNvSpPr/>
          <p:nvPr/>
        </p:nvSpPr>
        <p:spPr>
          <a:xfrm>
            <a:off x="1143000" y="5069235"/>
            <a:ext cx="7750492" cy="1992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5700" b="1" spc="-150" kern="0" dirty="0">
                <a:solidFill>
                  <a:srgbClr val="242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一份需求，</a:t>
            </a:r>
            <a:endParaRPr lang="en-US" sz="57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5700" b="1" spc="-150" kern="0" dirty="0">
                <a:solidFill>
                  <a:srgbClr val="242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三类成果。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143000" y="7357021"/>
            <a:ext cx="7750492" cy="51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2100" dirty="0">
                <a:solidFill>
                  <a:srgbClr val="7C7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可操作原型 · 可复用设计系统 · 可演示文稿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620250" y="3424684"/>
            <a:ext cx="19050" cy="4104084"/>
          </a:xfrm>
          <a:prstGeom prst="rect">
            <a:avLst/>
          </a:prstGeom>
          <a:solidFill>
            <a:srgbClr val="D8D1E8"/>
          </a:solidFill>
          <a:ln/>
        </p:spPr>
      </p:sp>
      <p:sp>
        <p:nvSpPr>
          <p:cNvPr id="8" name="Text 6"/>
          <p:cNvSpPr/>
          <p:nvPr/>
        </p:nvSpPr>
        <p:spPr>
          <a:xfrm>
            <a:off x="10115550" y="3424684"/>
            <a:ext cx="7240334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3150" b="1" dirty="0">
                <a:solidFill>
                  <a:srgbClr val="242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能力来自组合。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10115550" y="4310509"/>
            <a:ext cx="7240334" cy="2252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250000"/>
              </a:lnSpc>
              <a:buNone/>
            </a:pPr>
            <a:r>
              <a:rPr lang="en-US" sz="2325" dirty="0">
                <a:solidFill>
                  <a:srgbClr val="7C7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模型：理解需求与生成代码</a:t>
            </a:r>
            <a:endParaRPr lang="en-US" sz="2325" dirty="0"/>
          </a:p>
          <a:p>
            <a:pPr algn="l" indent="0" marL="0">
              <a:lnSpc>
                <a:spcPct val="250000"/>
              </a:lnSpc>
              <a:buNone/>
            </a:pPr>
            <a:r>
              <a:rPr lang="en-US" sz="2325" dirty="0">
                <a:solidFill>
                  <a:srgbClr val="7C7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技能：组织规则与工作流程</a:t>
            </a:r>
            <a:endParaRPr lang="en-US" sz="2325" dirty="0"/>
          </a:p>
          <a:p>
            <a:pPr algn="l" indent="0" marL="0">
              <a:lnSpc>
                <a:spcPct val="250000"/>
              </a:lnSpc>
              <a:buNone/>
            </a:pPr>
            <a:r>
              <a:rPr lang="en-US" sz="2325" dirty="0">
                <a:solidFill>
                  <a:srgbClr val="7C7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工具：编译、检查、预览、导出</a:t>
            </a:r>
            <a:endParaRPr lang="en-US" sz="2325" dirty="0"/>
          </a:p>
        </p:txBody>
      </p:sp>
      <p:sp>
        <p:nvSpPr>
          <p:cNvPr id="10" name="Text 8"/>
          <p:cNvSpPr/>
          <p:nvPr/>
        </p:nvSpPr>
        <p:spPr>
          <a:xfrm>
            <a:off x="10115550" y="6858446"/>
            <a:ext cx="7240334" cy="708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650" dirty="0">
                <a:solidFill>
                  <a:srgbClr val="9A9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本演示未连接真实 RSS、在线 AI 或云端数据库。</a:t>
            </a:r>
            <a:endParaRPr lang="en-US" sz="16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650" dirty="0">
                <a:solidFill>
                  <a:srgbClr val="9A9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原型采用原创样本；上游版本固定为 026d4ea。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143000" y="9534525"/>
            <a:ext cx="441315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50" kern="0" dirty="0">
                <a:solidFill>
                  <a:srgbClr val="9A9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 STUDY / PROJECT 008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16399818" y="9534525"/>
            <a:ext cx="82138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50" kern="0" dirty="0">
                <a:solidFill>
                  <a:srgbClr val="9A9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04</a:t>
            </a:r>
            <a:endParaRPr lang="en-US" sz="15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2026-09-18T12:11:13Z</dcterms:created>
  <dcterms:modified xsi:type="dcterms:W3CDTF">2026-09-18T12:11:13Z</dcterms:modified>
</cp:coreProperties>
</file>